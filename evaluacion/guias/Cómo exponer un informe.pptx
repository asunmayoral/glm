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objetivo de la sesión: aprender a convertir un informe en una exposición clara. La guía se organiza en cinco fases: planificar, construir la narrativa, presentar los hallazgos, diseñar las diapositivas y exponer.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 en el orden: primero se decide qué contar (guion) y solo después cómo mostrarlo (diapositivas). Quien empieza por las diapositivas suele acabar con una presentación que no cuenta una historia.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y el público condicionan todo lo demás: el nivel de detalle, el vocabulario, los ejemplos y la duración. Pide que escriban el objetivo en una frase antes de empezar.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prueba sencilla: si no puedes explicar un gráfico o una cifra con tus palabras y en treinta segundos, revísalo o quítalo.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esqueleto del guion. Cada bloque puede ocupar una o varias diapositivas, pero el orden debe mantenerse para que el público siga el razonamiento.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contexto no es una introducción genérica: debe dejar claro qué problema se aborda y con qué materia prima se cuenta. Las limitaciones de los datos se anticipan aquí y se retoman en las cautelas.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Ilustra al público con los conceptos que vas a usar. Basta con una definición breve y un ejemplo; no hace falta la formulación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implicación mal interpretada resta credibilidad a todo el análisis. Es preferible una conclusión modesta y sólida que una ambiciosa e infundada.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resultado sin su incertidumbre parece más seguro de lo que es. El aval científico se menciona en una línea: qué método se usó o en qué se basa; los detalles quedan en el informe.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cuatro preguntas convierten un dato en conocimiento útil. Si un hallazgo no permite responderlas, quizá no merece una diapositiva propia.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de la izquierda es un ejemplo con datos ficticios. Lo importante es que el título ya dice la conclusión y la descripción aclara qué se mide. Destacar con color solo lo que se quiere señalar.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el uso de IA no resta valor: lo que se evalúa es el criterio del analista para plantear el problema, validar resultados e interpretarlos.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Simplifica cada diapositiva. Si al quitar un elemento la idea sigue entendiéndose, ese elemento sobraba.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público solo leyera los títulos, debería entender el argumento completo. Los ejemplos son ilustrativos.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diapositiva cargada obliga al público a decidir qué mirar. Dividirla da a cada pregunta su momento y su título ilustrativo.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paleta de la derecha es la de esta misma presentación: cuatro colores con una función fija cada uno. El acento se reserva para lo que debe destacar.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Ensayar en voz alta y cronometrado revela qué partes sobran y dónde se pierde el hilo. Lenguaje prudente: no afirmar más de lo que permiten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pausa justo después de un hallazgo importante le da peso. Conviene marcar en el guion cuántos minutos corresponden a cada bloque.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conocimiento explicando con tus palabras lo que aparece en pantalla, no repitiéndolo.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Recuerda que la lista de comprobación se entrega aparte: sirve para revisar el trabajo antes de exponer, no para mostrarla en las diapositivas.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127658"/>
            <a:ext cx="10566466" cy="1005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F2A44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2438206"/>
            <a:ext cx="10566433" cy="360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127658"/>
            <a:ext cx="10566466" cy="1005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F2A44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2438206"/>
            <a:ext cx="10566433" cy="360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812767"/>
            <a:ext cx="1016000" cy="76192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812767" y="3957422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A6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GUÍA PARA EL ALUMNADO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67" y="4424743"/>
            <a:ext cx="10883460" cy="82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Cómo exponer un informe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767" y="5478818"/>
            <a:ext cx="10883460" cy="38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 documento a la presentación, paso a paso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767" y="6238296"/>
            <a:ext cx="108833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Modelos Lineales Generalizados - Grado en Ciencia de Datos e Inteligencia Artificial - Universidad Miguel Hernández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RECORRIDO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62"/>
            <a:ext cx="10883460" cy="103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Todo empieza en el informe, no en las diapositivas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17" y="2546143"/>
            <a:ext cx="1694235" cy="1105661"/>
          </a:xfrm>
          <a:prstGeom prst="roundRect">
            <a:avLst>
              <a:gd name="adj" fmla="val 8615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82688" y="2753568"/>
            <a:ext cx="167051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1737" y="3195464"/>
            <a:ext cx="768995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Informe</a:t>
            </a:r>
            <a:endParaRPr lang="en-US" sz="14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21277" y="3022781"/>
            <a:ext cx="304767" cy="1523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33969" y="2546143"/>
            <a:ext cx="1694276" cy="1105661"/>
          </a:xfrm>
          <a:prstGeom prst="roundRect">
            <a:avLst>
              <a:gd name="adj" fmla="val 8615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71867" y="2753568"/>
            <a:ext cx="218480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589751" y="3195464"/>
            <a:ext cx="582712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Guión</a:t>
            </a:r>
            <a:endParaRPr lang="en-US" sz="14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36170" y="3022781"/>
            <a:ext cx="304767" cy="15238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48862" y="2546143"/>
            <a:ext cx="1694235" cy="1105661"/>
          </a:xfrm>
          <a:prstGeom prst="roundRect">
            <a:avLst>
              <a:gd name="adj" fmla="val 8615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88124" y="2753568"/>
            <a:ext cx="215668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490670" y="3195464"/>
            <a:ext cx="1210618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Diapositivas</a:t>
            </a:r>
            <a:endParaRPr lang="en-US" sz="1400" dirty="0"/>
          </a:p>
        </p:txBody>
      </p:sp>
      <p:pic>
        <p:nvPicPr>
          <p:cNvPr id="1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51022" y="3022781"/>
            <a:ext cx="304767" cy="15238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63713" y="2546143"/>
            <a:ext cx="1694276" cy="1105661"/>
          </a:xfrm>
          <a:prstGeom prst="roundRect">
            <a:avLst>
              <a:gd name="adj" fmla="val 8615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205374" y="2753568"/>
            <a:ext cx="210914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4501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7958377" y="3195464"/>
            <a:ext cx="704949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Ensayo</a:t>
            </a:r>
            <a:endParaRPr lang="en-US" sz="140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65915" y="3022781"/>
            <a:ext cx="304767" cy="15238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78607" y="2546143"/>
            <a:ext cx="1694276" cy="1105661"/>
          </a:xfrm>
          <a:prstGeom prst="roundRect">
            <a:avLst>
              <a:gd name="adj" fmla="val 86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0421259" y="2753568"/>
            <a:ext cx="208971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A65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5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9997657" y="3195464"/>
            <a:ext cx="1056134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F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12767" y="4064537"/>
            <a:ext cx="10883460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guión se construye a partir del informe, y las diapositivas a partir del guión. Nunca al revés.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12767" y="6238295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236903" y="6238295"/>
            <a:ext cx="142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1 · PLANIFICAR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61"/>
            <a:ext cx="11379233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Antes de diseñar, decide para qué y para quién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17" y="2043269"/>
            <a:ext cx="5168916" cy="2182556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5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8117" y="2352269"/>
            <a:ext cx="406383" cy="4063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8117" y="2885653"/>
            <a:ext cx="4687443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Objetivo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28117" y="3347889"/>
            <a:ext cx="4687443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¿Qué debe saber, pensar o decidir el público al terminar?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03925" y="2043269"/>
            <a:ext cx="5168958" cy="2182556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9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2925" y="2352269"/>
            <a:ext cx="406383" cy="4063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12925" y="2885653"/>
            <a:ext cx="4687486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Público y tiempo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512925" y="3347889"/>
            <a:ext cx="4687486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¿Qué nivel técnico tiene, qué le interesa y qué decide? ¿Cuántos minutos tienes?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12767" y="6238295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236903" y="6238295"/>
            <a:ext cx="142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45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247965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BF3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1 · PLANIFICAR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2766053"/>
            <a:ext cx="10883460" cy="107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BF3E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Si no puedes explicarlo sin leer, aún no está listo para mostrarse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67" y="4122291"/>
            <a:ext cx="10883460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BF3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Entiende todo lo que muestras: es la base de la seguridad al exponer.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67" y="6238295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F3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36903" y="6238295"/>
            <a:ext cx="142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BF3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2 · NARRATIVA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61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La historia avanza del contexto a la solución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2062318"/>
            <a:ext cx="2032000" cy="0"/>
          </a:xfrm>
          <a:prstGeom prst="line">
            <a:avLst/>
          </a:prstGeom>
          <a:noFill/>
          <a:ln w="50800">
            <a:solidFill>
              <a:srgbClr val="9AA5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67" y="2290381"/>
            <a:ext cx="20406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67" y="2579892"/>
            <a:ext cx="2040670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Contexto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767" y="2991321"/>
            <a:ext cx="204067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Dónde estamos y qué datos hay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46342" y="2062318"/>
            <a:ext cx="2032041" cy="0"/>
          </a:xfrm>
          <a:prstGeom prst="line">
            <a:avLst/>
          </a:prstGeom>
          <a:noFill/>
          <a:ln w="50800">
            <a:solidFill>
              <a:srgbClr val="7D89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6342" y="2290381"/>
            <a:ext cx="20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46342" y="2579892"/>
            <a:ext cx="2040713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Problema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46342" y="2991321"/>
            <a:ext cx="2040713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hay que resolver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9959" y="2062318"/>
            <a:ext cx="2032041" cy="0"/>
          </a:xfrm>
          <a:prstGeom prst="line">
            <a:avLst/>
          </a:prstGeom>
          <a:noFill/>
          <a:ln w="50800">
            <a:solidFill>
              <a:srgbClr val="5F6C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9959" y="2290381"/>
            <a:ext cx="20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959" y="2579892"/>
            <a:ext cx="2040713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Enfoque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79959" y="2991321"/>
            <a:ext cx="2040713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lo has abordado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13575" y="2062318"/>
            <a:ext cx="2032041" cy="0"/>
          </a:xfrm>
          <a:prstGeom prst="line">
            <a:avLst/>
          </a:prstGeom>
          <a:noFill/>
          <a:ln w="50800">
            <a:solidFill>
              <a:srgbClr val="3E4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3575" y="2290381"/>
            <a:ext cx="20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13575" y="2579892"/>
            <a:ext cx="2040713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Hallazgos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13575" y="2991321"/>
            <a:ext cx="2040713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has encontrado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47191" y="2062318"/>
            <a:ext cx="2032041" cy="0"/>
          </a:xfrm>
          <a:prstGeom prst="line">
            <a:avLst/>
          </a:prstGeom>
          <a:noFill/>
          <a:ln w="5080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7191" y="2290381"/>
            <a:ext cx="2040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47191" y="2579892"/>
            <a:ext cx="2040713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Solución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47191" y="2991321"/>
            <a:ext cx="2040713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propones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767" y="3895533"/>
            <a:ext cx="10883460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Destaca las ideas clave y secuéncialas con sentido: cada una prepara la siguiente.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2767" y="6238295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36903" y="6238295"/>
            <a:ext cx="142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2 · NARRATIVA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61"/>
            <a:ext cx="10883460" cy="103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El contexto presenta el problema y los datos disponibles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17" y="2546142"/>
            <a:ext cx="5168916" cy="2182556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5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8117" y="2855144"/>
            <a:ext cx="406383" cy="4063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8117" y="3388525"/>
            <a:ext cx="4687443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Problemas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28117" y="3850760"/>
            <a:ext cx="4687443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situación motiva el informe y por qué hay que actuar.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03925" y="2546142"/>
            <a:ext cx="5168958" cy="2182556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9" name="Image 1" descr="Databa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2925" y="2855144"/>
            <a:ext cx="406383" cy="4063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12925" y="3388525"/>
            <a:ext cx="4687486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Datos disponibles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512925" y="3850760"/>
            <a:ext cx="4687486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fuentes, periodo y variables tienes, y qué limitaciones presentan.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12767" y="6238295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236903" y="6238295"/>
            <a:ext cx="142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2 · NARRATIVA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61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Explica los conceptos antes de usarlos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17" y="1992461"/>
            <a:ext cx="3373967" cy="2030214"/>
          </a:xfrm>
          <a:prstGeom prst="roundRect">
            <a:avLst>
              <a:gd name="adj" fmla="val 4692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5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7350" y="2250694"/>
            <a:ext cx="355575" cy="355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7350" y="2733269"/>
            <a:ext cx="2943225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Indicadores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7350" y="3195504"/>
            <a:ext cx="2943225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mide cada uno y cómo se lee.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08975" y="1992461"/>
            <a:ext cx="3374008" cy="2030214"/>
          </a:xfrm>
          <a:prstGeom prst="roundRect">
            <a:avLst>
              <a:gd name="adj" fmla="val 4692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7209" y="2250694"/>
            <a:ext cx="355575" cy="3555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7209" y="2733269"/>
            <a:ext cx="2943268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Métricas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667209" y="3195504"/>
            <a:ext cx="2943268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valor es bueno y cuál no.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998875" y="1992461"/>
            <a:ext cx="3374008" cy="2030214"/>
          </a:xfrm>
          <a:prstGeom prst="roundRect">
            <a:avLst>
              <a:gd name="adj" fmla="val 4692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13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7108" y="2250694"/>
            <a:ext cx="355575" cy="3555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7108" y="2733269"/>
            <a:ext cx="2943268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Técnicas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257108" y="3195504"/>
            <a:ext cx="2943268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hacen, en una frase y sin fórmulas.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12767" y="4384601"/>
            <a:ext cx="10883460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público no puede seguir un resultado si no entiende la medida que lo expresa.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2767" y="6238295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236903" y="6238295"/>
            <a:ext cx="142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247965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431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2 · NARRATIVA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2766051"/>
            <a:ext cx="10883460" cy="107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Muestra implicaciones solo si sabes interpretar el contexto a la perfección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67" y="4122291"/>
            <a:ext cx="10883460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 no es así, limítate a lo que los datos permiten afirmar.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36903" y="6238292"/>
            <a:ext cx="142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3 · HALLAZGOS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103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Cada hallazgo llega con su incertidumbre y su aval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2488983"/>
            <a:ext cx="3937000" cy="2273143"/>
          </a:xfrm>
          <a:prstGeom prst="roundRect">
            <a:avLst>
              <a:gd name="adj" fmla="val 4470"/>
            </a:avLst>
          </a:prstGeom>
          <a:solidFill>
            <a:srgbClr val="1F2A44"/>
          </a:solidFill>
          <a:ln/>
        </p:spPr>
      </p:sp>
      <p:sp>
        <p:nvSpPr>
          <p:cNvPr id="5" name="Text 3"/>
          <p:cNvSpPr/>
          <p:nvPr/>
        </p:nvSpPr>
        <p:spPr>
          <a:xfrm>
            <a:off x="1117534" y="2793752"/>
            <a:ext cx="34272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EJEMPLO ILUSTRATIVO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534" y="3083260"/>
            <a:ext cx="1824219" cy="82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40 %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2941753" y="3448385"/>
            <a:ext cx="776188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2A65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± 6 %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7534" y="3959529"/>
            <a:ext cx="342729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Peso del precio en el abandono de clientes, con su margen de error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73584" y="2518172"/>
            <a:ext cx="0" cy="980364"/>
          </a:xfrm>
          <a:prstGeom prst="line">
            <a:avLst/>
          </a:prstGeom>
          <a:noFill/>
          <a:ln w="38100">
            <a:solidFill>
              <a:srgbClr val="B450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94767" y="2518172"/>
            <a:ext cx="6267000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Incertidumbre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94767" y="2929595"/>
            <a:ext cx="6267000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Intervalos, márgenes y supuestos: lo que sabes y con qué seguridad.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73584" y="3752534"/>
            <a:ext cx="0" cy="980364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767" y="3752534"/>
            <a:ext cx="6267000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Aval científico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94767" y="4163963"/>
            <a:ext cx="6267000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método, la referencia o la validación que lo respalda, sin profundizar.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36903" y="6238292"/>
            <a:ext cx="1422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3 · HALLAZGOS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Todo hallazgo responde a cuatro preguntas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17" y="1992461"/>
            <a:ext cx="5168916" cy="1212362"/>
          </a:xfrm>
          <a:prstGeom prst="roundRect">
            <a:avLst>
              <a:gd name="adj" fmla="val 7857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350" y="2250691"/>
            <a:ext cx="4792023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¿Qué significa?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7350" y="2662120"/>
            <a:ext cx="4792023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Tradúcelo a un lenguaje llano.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03925" y="1992461"/>
            <a:ext cx="5168958" cy="1212362"/>
          </a:xfrm>
          <a:prstGeom prst="roundRect">
            <a:avLst>
              <a:gd name="adj" fmla="val 7857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2158" y="2250691"/>
            <a:ext cx="4792066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¿Por qué importa?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62158" y="2662120"/>
            <a:ext cx="4792066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Conéctalo con el problema inicial.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9117" y="3420715"/>
            <a:ext cx="5168916" cy="1212362"/>
          </a:xfrm>
          <a:prstGeom prst="roundRect">
            <a:avLst>
              <a:gd name="adj" fmla="val 7857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7350" y="3678944"/>
            <a:ext cx="4792023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¿Qué decisión apoya?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7350" y="4090374"/>
            <a:ext cx="4792023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 qué acción facilita.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03925" y="3420715"/>
            <a:ext cx="5168958" cy="1212362"/>
          </a:xfrm>
          <a:prstGeom prst="roundRect">
            <a:avLst>
              <a:gd name="adj" fmla="val 7857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2158" y="3678944"/>
            <a:ext cx="4792066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¿Qué cautelas tiene?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62158" y="4090374"/>
            <a:ext cx="4792066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Señala sus límites y dónde deja de ser válido.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3 · HALLAZGOS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103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Un gráfico con título y descripción se entiende solo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17" y="2444527"/>
            <a:ext cx="4940300" cy="3173131"/>
          </a:xfrm>
          <a:prstGeom prst="roundRect">
            <a:avLst>
              <a:gd name="adj" fmla="val 3002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8117" y="2702756"/>
            <a:ext cx="4451968" cy="289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Las ventas caen en invierno</a:t>
            </a:r>
            <a:endParaRPr lang="en-US" sz="1600" dirty="0"/>
          </a:p>
        </p:txBody>
      </p:sp>
      <p:pic>
        <p:nvPicPr>
          <p:cNvPr id="6" name="Image 0" descr="Gráfico de barras de ejemplo: ventas mensuales de septiembre a febrero; las barras de diciembre, enero y febrero, destacadas, son más baja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8117" y="3043076"/>
            <a:ext cx="4318000" cy="152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2717" y="4643270"/>
            <a:ext cx="7704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2384" y="4643270"/>
            <a:ext cx="7704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42050" y="4643270"/>
            <a:ext cx="7704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61717" y="4643270"/>
            <a:ext cx="7704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81384" y="4643270"/>
            <a:ext cx="7704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01050" y="4643270"/>
            <a:ext cx="7704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28117" y="4932784"/>
            <a:ext cx="445196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Ventas mensuales en miles de euros; en naranja, los meses de invierno. Datos ficticios.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40392" y="2796809"/>
            <a:ext cx="0" cy="670471"/>
          </a:xfrm>
          <a:prstGeom prst="line">
            <a:avLst/>
          </a:prstGeom>
          <a:noFill/>
          <a:ln w="38100">
            <a:solidFill>
              <a:srgbClr val="B450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150" y="2796809"/>
            <a:ext cx="5194375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Título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36150" y="3182813"/>
            <a:ext cx="5194375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conclusión que muestra.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40392" y="3695855"/>
            <a:ext cx="0" cy="670471"/>
          </a:xfrm>
          <a:prstGeom prst="line">
            <a:avLst/>
          </a:prstGeom>
          <a:noFill/>
          <a:ln w="38100">
            <a:solidFill>
              <a:srgbClr val="B450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6150" y="3695855"/>
            <a:ext cx="5194375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Descripción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36150" y="4081859"/>
            <a:ext cx="5194375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se mide, en qué unidades y de dónde sale.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40392" y="4594901"/>
            <a:ext cx="0" cy="670471"/>
          </a:xfrm>
          <a:prstGeom prst="line">
            <a:avLst/>
          </a:prstGeom>
          <a:noFill/>
          <a:ln w="38100">
            <a:solidFill>
              <a:srgbClr val="B450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150" y="4594901"/>
            <a:ext cx="5194375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Propósito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336150" y="4980905"/>
            <a:ext cx="5194375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Solo si ayuda a entender la solución.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247962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A6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3 · HALLAZGOS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2766051"/>
            <a:ext cx="10883460" cy="107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La IA te asiste; el análisis y las conclusiones son tuyos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67" y="4122291"/>
            <a:ext cx="10883460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 con transparencia para qué la has usado y deja claro tu protagonismo como analista.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4 · DISEÑO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103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Cada diapositiva: una idea, un resultado, una ilustración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17" y="2546139"/>
            <a:ext cx="2222450" cy="1623748"/>
          </a:xfrm>
          <a:prstGeom prst="roundRect">
            <a:avLst>
              <a:gd name="adj" fmla="val 5866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5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52534" y="2804375"/>
            <a:ext cx="355575" cy="355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6433" y="3261525"/>
            <a:ext cx="707777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Idea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87880" y="3698335"/>
            <a:ext cx="16848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Una sola, en el título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301" y="3037991"/>
            <a:ext cx="279417" cy="66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9AA5B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+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3587651" y="2546139"/>
            <a:ext cx="2222492" cy="1623748"/>
          </a:xfrm>
          <a:prstGeom prst="roundRect">
            <a:avLst>
              <a:gd name="adj" fmla="val 5866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10" name="Image 1" descr="St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1109" y="2804375"/>
            <a:ext cx="355575" cy="3555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77096" y="3261525"/>
            <a:ext cx="1643559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Resultado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770829" y="3698335"/>
            <a:ext cx="18561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dato que la sostiene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68876" y="3037991"/>
            <a:ext cx="279417" cy="66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9AA5B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+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6356226" y="2546139"/>
            <a:ext cx="2222492" cy="1623748"/>
          </a:xfrm>
          <a:prstGeom prst="roundRect">
            <a:avLst>
              <a:gd name="adj" fmla="val 5866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15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89684" y="2804375"/>
            <a:ext cx="355575" cy="3555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59347" y="3261525"/>
            <a:ext cx="1816249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Ilustración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362576" y="3698335"/>
            <a:ext cx="22097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Gráfico, esquema o imagen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737451" y="3037991"/>
            <a:ext cx="305048" cy="66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9AA5B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=</a:t>
            </a:r>
            <a:endParaRPr lang="en-US" sz="3600" dirty="0"/>
          </a:p>
        </p:txBody>
      </p:sp>
      <p:sp>
        <p:nvSpPr>
          <p:cNvPr id="19" name="Shape 14"/>
          <p:cNvSpPr/>
          <p:nvPr/>
        </p:nvSpPr>
        <p:spPr>
          <a:xfrm>
            <a:off x="9150391" y="2546139"/>
            <a:ext cx="2222492" cy="1623748"/>
          </a:xfrm>
          <a:prstGeom prst="roundRect">
            <a:avLst>
              <a:gd name="adj" fmla="val 586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0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083850" y="2804375"/>
            <a:ext cx="355575" cy="3555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28861" y="3261525"/>
            <a:ext cx="1865511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Diapositiva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9380450" y="3698335"/>
            <a:ext cx="17623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Clara y fácil de seguir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4 · DISEÑO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El título enuncia la conclusión, no el tema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1986111"/>
            <a:ext cx="5157804" cy="2622848"/>
          </a:xfrm>
          <a:prstGeom prst="roundRect">
            <a:avLst>
              <a:gd name="adj" fmla="val 3874"/>
            </a:avLst>
          </a:prstGeom>
          <a:solidFill>
            <a:srgbClr val="EAE6DC"/>
          </a:solidFill>
          <a:ln/>
        </p:spPr>
      </p:sp>
      <p:sp>
        <p:nvSpPr>
          <p:cNvPr id="5" name="Text 3"/>
          <p:cNvSpPr/>
          <p:nvPr/>
        </p:nvSpPr>
        <p:spPr>
          <a:xfrm>
            <a:off x="1117534" y="2290874"/>
            <a:ext cx="46847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EVITAR · TÍTULO DE TEMA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534" y="2681963"/>
            <a:ext cx="4684718" cy="374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A637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«Ventas»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7534" y="3208939"/>
            <a:ext cx="4684718" cy="374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A637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«Resultados del modelo»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186463" y="1998811"/>
            <a:ext cx="5180070" cy="2597448"/>
          </a:xfrm>
          <a:prstGeom prst="roundRect">
            <a:avLst>
              <a:gd name="adj" fmla="val 3423"/>
            </a:avLst>
          </a:prstGeom>
          <a:solidFill>
            <a:srgbClr val="FFFDF8"/>
          </a:solidFill>
          <a:ln w="25400">
            <a:solidFill>
              <a:srgbClr val="B450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2342" y="2314687"/>
            <a:ext cx="46847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PREFERIR · TÍTULO ILUSTRATIVO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02342" y="2705776"/>
            <a:ext cx="4684761" cy="723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«Las ventas caen un 12 % en invierno»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02342" y="3581958"/>
            <a:ext cx="4684761" cy="723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«El precio explica el 40 % del abandono»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4 · DISEÑO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103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Si una diapositiva responde a varias preguntas, divídela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2655379"/>
            <a:ext cx="3556000" cy="1864155"/>
          </a:xfrm>
          <a:prstGeom prst="roundRect">
            <a:avLst>
              <a:gd name="adj" fmla="val 5450"/>
            </a:avLst>
          </a:prstGeom>
          <a:solidFill>
            <a:srgbClr val="EAE6DC"/>
          </a:solidFill>
          <a:ln/>
        </p:spPr>
      </p:sp>
      <p:sp>
        <p:nvSpPr>
          <p:cNvPr id="5" name="Text 3"/>
          <p:cNvSpPr/>
          <p:nvPr/>
        </p:nvSpPr>
        <p:spPr>
          <a:xfrm>
            <a:off x="1117534" y="2960148"/>
            <a:ext cx="30348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ANTES · UNA DIAPOSITIVA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534" y="3300468"/>
            <a:ext cx="3034860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¿Qué ha pasado?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¿Por qué ha pasado?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¿Qué proponemos?</a:t>
            </a:r>
            <a:endParaRPr lang="en-US" sz="16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73534" y="3396959"/>
            <a:ext cx="762000" cy="38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40301" y="2488983"/>
            <a:ext cx="5808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DESPUÉS · TRES DIAPOSITIVAS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46651" y="2810228"/>
            <a:ext cx="5626232" cy="546935"/>
          </a:xfrm>
          <a:prstGeom prst="roundRect">
            <a:avLst>
              <a:gd name="adj" fmla="val 17415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54076" y="2941464"/>
            <a:ext cx="135343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01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65618" y="2941464"/>
            <a:ext cx="1898551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¿Qué ha pasado?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46651" y="3471441"/>
            <a:ext cx="5626232" cy="546935"/>
          </a:xfrm>
          <a:prstGeom prst="roundRect">
            <a:avLst>
              <a:gd name="adj" fmla="val 17415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54076" y="3602670"/>
            <a:ext cx="172756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01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03032" y="3602670"/>
            <a:ext cx="2319189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¿Por qué ha pasado?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46651" y="4132647"/>
            <a:ext cx="5626232" cy="546935"/>
          </a:xfrm>
          <a:prstGeom prst="roundRect">
            <a:avLst>
              <a:gd name="adj" fmla="val 17415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54076" y="4263882"/>
            <a:ext cx="170689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4501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00965" y="4263882"/>
            <a:ext cx="2156321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¿Qué proponemos?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4 · DISEÑO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103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La coherencia visual deja que el contenido destaque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31817" y="2488977"/>
            <a:ext cx="0" cy="670471"/>
          </a:xfrm>
          <a:prstGeom prst="line">
            <a:avLst/>
          </a:prstGeom>
          <a:noFill/>
          <a:ln w="38100">
            <a:solidFill>
              <a:srgbClr val="B450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7575" y="2488977"/>
            <a:ext cx="6057712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Contraste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7575" y="2874987"/>
            <a:ext cx="6057712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Texto siempre legible sobre su fondo.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1817" y="3362647"/>
            <a:ext cx="0" cy="670471"/>
          </a:xfrm>
          <a:prstGeom prst="line">
            <a:avLst/>
          </a:prstGeom>
          <a:noFill/>
          <a:ln w="38100">
            <a:solidFill>
              <a:srgbClr val="B450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7575" y="3362647"/>
            <a:ext cx="6057712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Tipografía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7575" y="3748646"/>
            <a:ext cx="6057712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Pocas fuentes y tamaños, siempre los mismos.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17" y="4236306"/>
            <a:ext cx="0" cy="670471"/>
          </a:xfrm>
          <a:prstGeom prst="line">
            <a:avLst/>
          </a:prstGeom>
          <a:noFill/>
          <a:ln w="38100">
            <a:solidFill>
              <a:srgbClr val="B450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7575" y="4236306"/>
            <a:ext cx="6057712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Color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7575" y="4622304"/>
            <a:ext cx="6057712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Una paleta reducida, usada con un mismo criterio.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21583" y="2601950"/>
            <a:ext cx="1943108" cy="749300"/>
          </a:xfrm>
          <a:prstGeom prst="roundRect">
            <a:avLst>
              <a:gd name="adj" fmla="val 9322"/>
            </a:avLst>
          </a:prstGeom>
          <a:solidFill>
            <a:srgbClr val="F7F5F0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33" y="3408363"/>
            <a:ext cx="2014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Fondo claro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23425" y="2595600"/>
            <a:ext cx="1955808" cy="762000"/>
          </a:xfrm>
          <a:prstGeom prst="roundRect">
            <a:avLst>
              <a:gd name="adj" fmla="val 10000"/>
            </a:avLst>
          </a:prstGeom>
          <a:solidFill>
            <a:srgbClr val="1F2A44"/>
          </a:solidFill>
          <a:ln/>
        </p:spPr>
      </p:sp>
      <p:sp>
        <p:nvSpPr>
          <p:cNvPr id="16" name="Text 14"/>
          <p:cNvSpPr/>
          <p:nvPr/>
        </p:nvSpPr>
        <p:spPr>
          <a:xfrm>
            <a:off x="9423425" y="3408363"/>
            <a:ext cx="2014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Texto y fondo oscuro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33" y="3774070"/>
            <a:ext cx="1955808" cy="762000"/>
          </a:xfrm>
          <a:prstGeom prst="roundRect">
            <a:avLst>
              <a:gd name="adj" fmla="val 10000"/>
            </a:avLst>
          </a:prstGeom>
          <a:solidFill>
            <a:srgbClr val="B4501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33" y="4586833"/>
            <a:ext cx="2014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Acento: lo importante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423425" y="3774070"/>
            <a:ext cx="1955808" cy="762000"/>
          </a:xfrm>
          <a:prstGeom prst="roundRect">
            <a:avLst>
              <a:gd name="adj" fmla="val 10000"/>
            </a:avLst>
          </a:prstGeom>
          <a:solidFill>
            <a:srgbClr val="9AA5BC"/>
          </a:solidFill>
          <a:ln/>
        </p:spPr>
      </p:sp>
      <p:sp>
        <p:nvSpPr>
          <p:cNvPr id="20" name="Text 18"/>
          <p:cNvSpPr/>
          <p:nvPr/>
        </p:nvSpPr>
        <p:spPr>
          <a:xfrm>
            <a:off x="9423425" y="4586833"/>
            <a:ext cx="20144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Apoyo: lo secundario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5 · EXPONER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1031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Ensaya hasta dominar el contenido, no hasta memorizarlo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2488977"/>
            <a:ext cx="5157804" cy="2028651"/>
          </a:xfrm>
          <a:prstGeom prst="roundRect">
            <a:avLst>
              <a:gd name="adj" fmla="val 5008"/>
            </a:avLst>
          </a:prstGeom>
          <a:solidFill>
            <a:srgbClr val="EAE6DC"/>
          </a:solidFill>
          <a:ln/>
        </p:spPr>
      </p:sp>
      <p:sp>
        <p:nvSpPr>
          <p:cNvPr id="5" name="Text 3"/>
          <p:cNvSpPr/>
          <p:nvPr/>
        </p:nvSpPr>
        <p:spPr>
          <a:xfrm>
            <a:off x="1117534" y="2793752"/>
            <a:ext cx="46847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EVITAR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534" y="3134072"/>
            <a:ext cx="4684718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4A556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Memorizar o leer notas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7534" y="3596308"/>
            <a:ext cx="4684718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Suena rígido y te bloquea si pierdes el hilo.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86463" y="2501677"/>
            <a:ext cx="5180070" cy="2003251"/>
          </a:xfrm>
          <a:prstGeom prst="roundRect">
            <a:avLst>
              <a:gd name="adj" fmla="val 4438"/>
            </a:avLst>
          </a:prstGeom>
          <a:solidFill>
            <a:srgbClr val="FFFDF8"/>
          </a:solidFill>
          <a:ln w="25400">
            <a:solidFill>
              <a:srgbClr val="B450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2342" y="2817564"/>
            <a:ext cx="46847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PREFERIR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02342" y="3157885"/>
            <a:ext cx="4684761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Ensayar y dominar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02342" y="3620120"/>
            <a:ext cx="4684761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 permite adaptar el discurso y manejar la espontaneidad.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67" y="4873203"/>
            <a:ext cx="10883460" cy="309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Prepara un guion con lenguaje prudente y ajusta la duración al tiempo disponible.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0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5 · EXPONER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El ritmo también comunica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2062311"/>
            <a:ext cx="2489192" cy="0"/>
          </a:xfrm>
          <a:prstGeom prst="line">
            <a:avLst/>
          </a:prstGeom>
          <a:noFill/>
          <a:ln w="50800">
            <a:solidFill>
              <a:srgbClr val="B4501E"/>
            </a:solidFill>
            <a:prstDash val="solid"/>
          </a:ln>
        </p:spPr>
      </p:sp>
      <p:pic>
        <p:nvPicPr>
          <p:cNvPr id="5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767" y="2290378"/>
            <a:ext cx="355575" cy="3555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67" y="2722141"/>
            <a:ext cx="2511578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Ritmo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2767" y="3133576"/>
            <a:ext cx="2511578" cy="878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 prisa ni lentitud: un paso que el público pueda seguir.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505150" y="2062311"/>
            <a:ext cx="2489233" cy="0"/>
          </a:xfrm>
          <a:prstGeom prst="line">
            <a:avLst/>
          </a:prstGeom>
          <a:noFill/>
          <a:ln w="50800">
            <a:solidFill>
              <a:srgbClr val="B4501E"/>
            </a:solidFill>
            <a:prstDash val="solid"/>
          </a:ln>
        </p:spPr>
      </p:sp>
      <p:pic>
        <p:nvPicPr>
          <p:cNvPr id="9" name="Image 1" descr="Cha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05150" y="2290378"/>
            <a:ext cx="355575" cy="3555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05150" y="2722141"/>
            <a:ext cx="2511620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Cadencias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505150" y="3133576"/>
            <a:ext cx="2511620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Varía el tono para marcar lo importante.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97575" y="2062311"/>
            <a:ext cx="2489233" cy="0"/>
          </a:xfrm>
          <a:prstGeom prst="line">
            <a:avLst/>
          </a:prstGeom>
          <a:noFill/>
          <a:ln w="50800">
            <a:solidFill>
              <a:srgbClr val="B4501E"/>
            </a:solidFill>
            <a:prstDash val="solid"/>
          </a:ln>
        </p:spPr>
      </p:sp>
      <p:pic>
        <p:nvPicPr>
          <p:cNvPr id="13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7575" y="2290378"/>
            <a:ext cx="355575" cy="3555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97575" y="2722141"/>
            <a:ext cx="2511620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Pausas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197575" y="3133576"/>
            <a:ext cx="2511620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Deja respirar las ideas clave.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890000" y="2062311"/>
            <a:ext cx="2489233" cy="0"/>
          </a:xfrm>
          <a:prstGeom prst="line">
            <a:avLst/>
          </a:prstGeom>
          <a:noFill/>
          <a:ln w="50800">
            <a:solidFill>
              <a:srgbClr val="B4501E"/>
            </a:solidFill>
            <a:prstDash val="solid"/>
          </a:ln>
        </p:spPr>
      </p:sp>
      <p:pic>
        <p:nvPicPr>
          <p:cNvPr id="17" name="Image 3" descr="C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90000" y="2290378"/>
            <a:ext cx="355575" cy="3555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90000" y="2722141"/>
            <a:ext cx="2511620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Tiempos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890000" y="3133576"/>
            <a:ext cx="2511620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Reparte los minutos según el peso de cada parte.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E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A431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FASE 5 · EXPONER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27658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Mira al público; la presentación te acompaña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17" y="2043261"/>
            <a:ext cx="5168916" cy="2182556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5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8117" y="2352266"/>
            <a:ext cx="406383" cy="4063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8117" y="2885653"/>
            <a:ext cx="4687443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Mirada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28117" y="3347889"/>
            <a:ext cx="4687443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Habla al público, no a la pantalla. Apóyate en la diapositiva sin leerla.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03925" y="2043261"/>
            <a:ext cx="5168958" cy="2182556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9" name="Image 1" descr="Verified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2925" y="2352266"/>
            <a:ext cx="406383" cy="4063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12925" y="2885653"/>
            <a:ext cx="4687486" cy="360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F2A44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Presencia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512925" y="3347889"/>
            <a:ext cx="4687486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Cuida el vestuario, la postura y los gestos: también transmiten seguridad.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216745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2A6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 RESUMEN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2531641"/>
            <a:ext cx="10883460" cy="52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Una buena exposición se prepara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67" y="3561569"/>
            <a:ext cx="1991362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67" y="3757327"/>
            <a:ext cx="20511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67" y="4046835"/>
            <a:ext cx="2051102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Planifica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56512" y="3561569"/>
            <a:ext cx="1991403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56512" y="3757327"/>
            <a:ext cx="20511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56512" y="4046835"/>
            <a:ext cx="2051145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Narra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100298" y="3561569"/>
            <a:ext cx="1991362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0298" y="3757327"/>
            <a:ext cx="20511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00298" y="4046835"/>
            <a:ext cx="2051102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Justifica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244043" y="3561569"/>
            <a:ext cx="1991403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44043" y="3757327"/>
            <a:ext cx="20511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44043" y="4046835"/>
            <a:ext cx="2051145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Diseña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387830" y="3561569"/>
            <a:ext cx="1991403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7830" y="3757327"/>
            <a:ext cx="20511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6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87830" y="4046835"/>
            <a:ext cx="2051145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7F5F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Ensaya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2767" y="6238292"/>
            <a:ext cx="21171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Cómo exponer un informe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45457" y="623829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ómo exponer un informe">
  <a:themeElements>
    <a:clrScheme name="Cómo exponer un informe">
      <a:dk1>
        <a:srgbClr val="1F2A44"/>
      </a:dk1>
      <a:lt1>
        <a:srgbClr val="F7F5F0"/>
      </a:lt1>
      <a:dk2>
        <a:srgbClr val="555D6F"/>
      </a:dk2>
      <a:lt2>
        <a:srgbClr val="E1E1DF"/>
      </a:lt2>
      <a:accent1>
        <a:srgbClr val="B4501E"/>
      </a:accent1>
      <a:accent2>
        <a:srgbClr val="F2A65A"/>
      </a:accent2>
      <a:accent3>
        <a:srgbClr val="9A4318"/>
      </a:accent3>
      <a:accent4>
        <a:srgbClr val="4A5568"/>
      </a:accent4>
      <a:accent5>
        <a:srgbClr val="5A6378"/>
      </a:accent5>
      <a:accent6>
        <a:srgbClr val="C9D2E3"/>
      </a:accent6>
      <a:hlink>
        <a:srgbClr val="0563C1"/>
      </a:hlink>
      <a:folHlink>
        <a:srgbClr val="954F72"/>
      </a:folHlink>
    </a:clrScheme>
    <a:fontScheme name="Cómo exponer un informe">
      <a:majorFont>
        <a:latin typeface="Dom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exponer un informe</dc:title>
  <dc:subject/>
  <dc:creator/>
  <cp:lastModifiedBy/>
  <cp:revision>1</cp:revision>
  <dcterms:created xsi:type="dcterms:W3CDTF">2026-10-19T09:38:22Z</dcterms:created>
  <dcterms:modified xsi:type="dcterms:W3CDTF">2026-10-19T09:38:22Z</dcterms:modified>
</cp:coreProperties>
</file>